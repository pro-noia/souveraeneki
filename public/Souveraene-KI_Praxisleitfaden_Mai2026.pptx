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 spc="30">
                <a:solidFill>
                  <a:srgbClr val="3A90AA"/>
                </a:solidFill>
                <a:latin typeface="Cousine"/>
              </a:rPr>
              <a:t>PRAXISLEITFADEN  · 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0C1626"/>
                </a:solidFill>
                <a:latin typeface="Manrope"/>
              </a:rPr>
              <a:t>Souveräne KI in Europa.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0" i="0">
                <a:solidFill>
                  <a:srgbClr val="1F2937"/>
                </a:solidFill>
                <a:latin typeface="Manrope"/>
              </a:rPr>
              <a:t>Vom Intelligence Taker zum Intelligence Maker —
ein Praxisleitfaden für CEOs und CIOs.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29487" y="5120640"/>
            <a:ext cx="3291840" cy="22860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9487" y="52120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 spc="20">
                <a:solidFill>
                  <a:srgbClr val="3A90AA"/>
                </a:solidFill>
                <a:latin typeface="Cousin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487" y="5532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spc="10">
                <a:solidFill>
                  <a:srgbClr val="0C1626"/>
                </a:solidFill>
                <a:latin typeface="Manrope"/>
              </a:rPr>
              <a:t>DER WECKRUF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487" y="589788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B5563"/>
                </a:solidFill>
                <a:latin typeface="Manrope"/>
              </a:rPr>
              <a:t>Warum Europäische Unternehmen ihre KI heute mehr mieten als besitzen.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9927" y="5120640"/>
            <a:ext cx="3291840" cy="22860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9927" y="52120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 spc="20">
                <a:solidFill>
                  <a:srgbClr val="3A90AA"/>
                </a:solidFill>
                <a:latin typeface="Cousin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9927" y="5532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spc="10">
                <a:solidFill>
                  <a:srgbClr val="0C1626"/>
                </a:solidFill>
                <a:latin typeface="Manrope"/>
              </a:rPr>
              <a:t>DIE LANDKARTE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9927" y="589788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B5563"/>
                </a:solidFill>
                <a:latin typeface="Manrope"/>
              </a:rPr>
              <a:t>Souveränität, Compliance-Welle, Säulen, Ökosystem.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0367" y="5120640"/>
            <a:ext cx="3291840" cy="22860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0367" y="52120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 spc="20">
                <a:solidFill>
                  <a:srgbClr val="3A90AA"/>
                </a:solidFill>
                <a:latin typeface="Cousin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0367" y="5532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spc="10">
                <a:solidFill>
                  <a:srgbClr val="0C1626"/>
                </a:solidFill>
                <a:latin typeface="Manrope"/>
              </a:rPr>
              <a:t>DER SPIELZUG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0367" y="589788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B5563"/>
                </a:solidFill>
                <a:latin typeface="Manrope"/>
              </a:rPr>
              <a:t>CSD-Framework, 90-Tage-Roadmap und 12-Fragen-Check.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 spc="20">
                <a:solidFill>
                  <a:srgbClr val="557B95"/>
                </a:solidFill>
                <a:latin typeface="Cousine"/>
              </a:rPr>
              <a:t>14 Seiten · 28 Quellen mit URLs · Mai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01 ·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 spc="30">
                <a:solidFill>
                  <a:srgbClr val="3A90AA"/>
                </a:solidFill>
                <a:latin typeface="Cousine"/>
              </a:rPr>
              <a:t>DIE KERNTHESE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9784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1" i="0">
                <a:solidFill>
                  <a:srgbClr val="0C1626"/>
                </a:solidFill>
                <a:latin typeface="Manrope"/>
              </a:rPr>
              <a:t>Wer seine KI mietet,</a:t>
            </a:r>
          </a:p>
          <a:p>
            <a:pPr algn="ctr">
              <a:lnSpc>
                <a:spcPct val="110000"/>
              </a:lnSpc>
            </a:pPr>
            <a:r>
              <a:rPr sz="4800" b="1" i="0">
                <a:solidFill>
                  <a:srgbClr val="3A90AA"/>
                </a:solidFill>
                <a:latin typeface="Manrope"/>
              </a:rPr>
              <a:t>baut auf gemietetem Grund.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937760"/>
            <a:ext cx="8503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i="0">
                <a:solidFill>
                  <a:srgbClr val="1F2937"/>
                </a:solidFill>
                <a:latin typeface="Manrope"/>
              </a:rPr>
              <a:t>Souveränität bedeutet nicht Autarkie — sondern Agency. Drei Schritte. Vier Branchen. Sieben Aktionen.
Ein Praxisleitfaden, der die Souveränitätsfrage operationalisiert.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02 ·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 spc="30">
                <a:solidFill>
                  <a:srgbClr val="3A90AA"/>
                </a:solidFill>
                <a:latin typeface="Cousin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C1626"/>
                </a:solidFill>
                <a:latin typeface="Manrope"/>
              </a:rPr>
              <a:t>Wer seine KI mietet, baut auf gemietetem Grund.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10881360" cy="10972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68580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F2937"/>
                </a:solidFill>
                <a:latin typeface="Manrope"/>
              </a:rPr>
              <a:t>Es ist Montagmorgen, 6:14 Uhr. In einer Produktionshalle in Schwaben steht der Geschäftsführer eines Automobilzulieferers vor stillstehenden Maschinen. Nicht wegen eines technischen Defekts — sondern weil ein Cloud-Anbieter in San Francisco über Nacht die Terms of Service geändert hat. Pro Stunde Stillstand: 180.000 Euro.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200" b="0" i="1">
                <a:solidFill>
                  <a:srgbClr val="1F2937"/>
                </a:solidFill>
                <a:latin typeface="Manrope"/>
              </a:rPr>
              <a:t>Die Szene ist konstruiert. Jedes ihrer Elemente ist real.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200" b="0" i="0">
                <a:solidFill>
                  <a:srgbClr val="1F2937"/>
                </a:solidFill>
                <a:latin typeface="Manrope"/>
              </a:rPr>
              <a:t>Souveränität bedeutet nicht Autarkie. Sie bedeutet Agency — die Freiheit, Abhängigkeiten bewusst zu wählen, mitzugestalten und jederzeit zu verlassen.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100" b="0" i="0">
                <a:solidFill>
                  <a:srgbClr val="1F2937"/>
                </a:solidFill>
                <a:latin typeface="Manrope"/>
              </a:rPr>
              <a:t>▸  Akt I — Der Weckruf. Vier regulierte Branchen, konkrete Schmerzpunkte. Microsoft France am 10. Juni 2025 unter Eid: bestätigt, was viele ahnten.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100" b="0" i="0">
                <a:solidFill>
                  <a:srgbClr val="1F2937"/>
                </a:solidFill>
                <a:latin typeface="Manrope"/>
              </a:rPr>
              <a:t>▸  Akt II — Die Landkarte. EU AI Act, DSGVO Art. 48, NIS2, DORA — Compliance-Welle als Designprinzip.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100" b="0" i="0">
                <a:solidFill>
                  <a:srgbClr val="1F2937"/>
                </a:solidFill>
                <a:latin typeface="Manrope"/>
              </a:rPr>
              <a:t>▸  Akt III — Der Spielzug. Nur ein Drittel Ihrer KI muss tatsächlich souverän sein. Welches Drittel — das ist die einzige Entscheidung.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6060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A90AA"/>
                </a:solidFill>
                <a:latin typeface="Manrope"/>
              </a:rPr>
              <a:t>1/3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1546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B5563"/>
                </a:solidFill>
                <a:latin typeface="Manrope"/>
              </a:rPr>
              <a:t>Ihrer KI-Workloads muss souverän sein. Der Rest darf bei den globalen Hyperscalern bleiben.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7490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A90AA"/>
                </a:solidFill>
                <a:latin typeface="Manrope"/>
              </a:rPr>
              <a:t>100  Mio. 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2976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B5563"/>
                </a:solidFill>
                <a:latin typeface="Manrope"/>
              </a:rPr>
              <a:t>Bußgeld gegen Yango im Mai 2026 wegen unerlaubter Datentransfers.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920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A90AA"/>
                </a:solidFill>
                <a:latin typeface="Manrope"/>
              </a:rPr>
              <a:t>30.000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4406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B5563"/>
                </a:solidFill>
                <a:latin typeface="Manrope"/>
              </a:rPr>
              <a:t>Unternehmen in Deutschland fallen seit Dezember 2025 unter die NIS2-Pflichten.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03 ·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 spc="50">
                <a:solidFill>
                  <a:srgbClr val="3A90AA"/>
                </a:solidFill>
                <a:latin typeface="Cousine"/>
              </a:rPr>
              <a:t>AKT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6400" b="1" i="0">
                <a:solidFill>
                  <a:srgbClr val="0C1626"/>
                </a:solidFill>
                <a:latin typeface="Manrope"/>
              </a:rPr>
              <a:t>Der Weckruf.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2704" y="4297680"/>
            <a:ext cx="914400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0" i="1">
                <a:solidFill>
                  <a:srgbClr val="1F2937"/>
                </a:solidFill>
                <a:latin typeface="Manrope"/>
              </a:rPr>
              <a:t>Warum europäische Unternehmen ihre KI heute mehr mieten als besitzen — und was das kostet.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04 ·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3A90AA"/>
                </a:solidFill>
                <a:latin typeface="Cousine"/>
              </a:rPr>
              <a:t>AKT I — DER WECKRUF  ·  SZENE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C1626"/>
                </a:solidFill>
                <a:latin typeface="Manrope"/>
              </a:rPr>
              <a:t>6:14 Uhr. Die Maschinen schweigen.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0881360" cy="10972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68580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1">
                <a:solidFill>
                  <a:srgbClr val="1F2937"/>
                </a:solidFill>
                <a:latin typeface="Manrope"/>
              </a:rPr>
              <a:t>Stellen Sie sich folgende Szene vor.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200" b="0" i="0">
                <a:solidFill>
                  <a:srgbClr val="1F2937"/>
                </a:solidFill>
                <a:latin typeface="Manrope"/>
              </a:rPr>
              <a:t>Ein mittelständischer Automobilzulieferer in Schwaben, 2.000 Mitarbeitende, Weltmarktführer in seiner Nische. Die KI-gesteuerte Qualitätskontrolle steht still. Kein Defekt — der US-Cloud-Anbieter hat über Nacht die Terms of Service geändert. Die API antwortet nicht mehr.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200" b="0" i="0">
                <a:solidFill>
                  <a:srgbClr val="1F2937"/>
                </a:solidFill>
                <a:latin typeface="Manrope"/>
              </a:rPr>
              <a:t>Die Produktionslinie steht. Jede Stunde kostet 180.000 Euro. Der Geschäftsführer hört die Stille der Maschinen und begreift zum ersten Mal, was Abhängigkeit wirklich bedeutet.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4688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30">
                <a:solidFill>
                  <a:srgbClr val="3A90AA"/>
                </a:solidFill>
                <a:latin typeface="Cousine"/>
              </a:rPr>
              <a:t>DREI FAKTEN ZUR SZENE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788920"/>
            <a:ext cx="548640" cy="1371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9260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C1626"/>
                </a:solidFill>
                <a:latin typeface="Manrope"/>
              </a:rPr>
              <a:t>AGB-Änderung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2004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4B5563"/>
                </a:solidFill>
                <a:latin typeface="Manrope"/>
              </a:rPr>
              <a:t>Cloud-Anbieter haben Nutzungsbedingungen in der Vergangenheit kurzfristig und einseitig geändert — auch in regulierten Branchen.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023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C1626"/>
                </a:solidFill>
                <a:latin typeface="Manrope"/>
              </a:rPr>
              <a:t>KI in der Produktion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29768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4B5563"/>
                </a:solidFill>
                <a:latin typeface="Manrope"/>
              </a:rPr>
              <a:t>KI-gestützte Qualitätskontrolle und Predictive Maintenance sind in der Automobil-Zulieferindustrie Standard — keine Zukunftsmusik.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1206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C1626"/>
                </a:solidFill>
                <a:latin typeface="Manrope"/>
              </a:rPr>
              <a:t>180.000 EUR / Stunde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3949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4B5563"/>
                </a:solidFill>
                <a:latin typeface="Manrope"/>
              </a:rPr>
              <a:t>Konservative Schätzung für eine durchschnittliche OEM-Tier-1-Produktion bei vollständigem Stillstand.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05 ·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3A90AA"/>
                </a:solidFill>
                <a:latin typeface="Cousine"/>
              </a:rPr>
              <a:t>AKT I — DER WECKRUF  ·  SZENE 2  ·  Die unsichtbare Kette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94183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1">
                <a:solidFill>
                  <a:srgbClr val="0C1626"/>
                </a:solidFill>
                <a:latin typeface="Manrope"/>
              </a:rPr>
              <a:t>„Non, je ne peux pas le garantir."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8036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 spc="20">
                <a:solidFill>
                  <a:srgbClr val="3A90AA"/>
                </a:solidFill>
                <a:latin typeface="Cousine"/>
              </a:rPr>
              <a:t>— Anton Carniaux, Justiziar Microsoft France  ·  unter Eid, Senatsanhörung 10. Juni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20440"/>
            <a:ext cx="10881360" cy="10972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5">
                <a:solidFill>
                  <a:srgbClr val="3A90AA"/>
                </a:solidFill>
                <a:latin typeface="Cousine"/>
              </a:rPr>
              <a:t>WAS PASSIERT 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799"/>
            <a:ext cx="5212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F2937"/>
                </a:solidFill>
                <a:latin typeface="Manrope"/>
              </a:rPr>
              <a:t>Vor dem französischen Senat fragte Berichterstatter Dany Wattebled den Microsoft-Justiziar Anton Carniaux unter Eid: Könne Microsoft garantieren, dass Daten französischer Bürger niemals ohne Zustimmung der französischen Behörden an US-Behörden übermittelt würden? Vier Worte als Antwort. Bestätigt unter Eid, was Datenschutzanwälte seit Jahren warnten.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749039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5">
                <a:solidFill>
                  <a:srgbClr val="3A90AA"/>
                </a:solidFill>
                <a:latin typeface="Cousine"/>
              </a:rPr>
              <a:t>WAS ES BEDEUTET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114799"/>
            <a:ext cx="5212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F2937"/>
                </a:solidFill>
                <a:latin typeface="Manrope"/>
              </a:rPr>
              <a:t>Der US CLOUD Act gilt für alle US-Anbieter unabhängig vom Speicherort der Daten. EU-Rechenzentren, „EU Data Boundary"-Initiativen, vertragliche Zusicherungen — sie ändern nichts an der rechtlichen Grundlage. Mai 2026: 100 Mio. EUR Bußgeld gegen Yango wegen unerlaubter Datentransfers — die Behörden schöpfen den Strafrahmen aus.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06 ·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3A90AA"/>
                </a:solidFill>
                <a:latin typeface="Cousine"/>
              </a:rPr>
              <a:t>AKT I — DER WECKRUF  ·  SZENE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C1626"/>
                </a:solidFill>
                <a:latin typeface="Manrope"/>
              </a:rPr>
              <a:t>Vier Branchen, vier Schmerzpunkte.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4B5563"/>
                </a:solidFill>
                <a:latin typeface="Manrope"/>
              </a:rPr>
              <a:t>Die Folgen der Cloud-Abhängigkeit treffen jede regulierte Branche anders. Vier Vignetten.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457200" cy="22860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25">
                <a:solidFill>
                  <a:srgbClr val="3A90AA"/>
                </a:solidFill>
                <a:latin typeface="Cousine"/>
              </a:rPr>
              <a:t>INDUSTRIE  ·  OPERATIVE RESILIENZ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C1626"/>
                </a:solidFill>
                <a:latin typeface="Manrope"/>
              </a:rPr>
              <a:t>Der Schwabe um 6:14 Uhr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Wenn Qualitätskontrolle und Predictive Maintenance in der Cloud eines globalen Anbieters laufen, ist die Produktion an dessen Verfügbarkeit gekoppelt. Drei Anbieter halten 62 % des globalen Cloud-Marktes — europäische Anbieter ~15 %.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606040"/>
            <a:ext cx="457200" cy="22860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6974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25">
                <a:solidFill>
                  <a:srgbClr val="3A90AA"/>
                </a:solidFill>
                <a:latin typeface="Cousine"/>
              </a:rPr>
              <a:t>FINANZ  ·  DORA-FALLE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C1626"/>
                </a:solidFill>
                <a:latin typeface="Manrope"/>
              </a:rPr>
              <a:t>Die Bank, die ihre Exit-Strategie nicht kennt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74720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Seit Januar 2025 verlangt DORA dokumentierte Exit-Strategien für kritische ICT-Drittanbieter. Rechtsgutachten Uni zu Köln (BMI): EU-Rechenzentren reichen nicht — entscheidend ist die rechtliche Beherrschung.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63440"/>
            <a:ext cx="457200" cy="22860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25">
                <a:solidFill>
                  <a:srgbClr val="3A90AA"/>
                </a:solidFill>
                <a:latin typeface="Cousine"/>
              </a:rPr>
              <a:t>HEALTHCARE  ·  PATIENTENDATEN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C1626"/>
                </a:solidFill>
                <a:latin typeface="Manrope"/>
              </a:rPr>
              <a:t>Die Onkologin und das Risiko, das niemand sieht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Eine Münchener Onkologin analysiert mit KI Patientendaten in seltenen Krebserkrankungen. Bei einer CLOUD-Act-Anordnung können die Daten den EU-Rechtsraum verlassen — ohne Information der Klinik, ohne Information der Patientinnen.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663440"/>
            <a:ext cx="457200" cy="22860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7548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25">
                <a:solidFill>
                  <a:srgbClr val="3A90AA"/>
                </a:solidFill>
                <a:latin typeface="Cousine"/>
              </a:rPr>
              <a:t>PUBLIC SECTOR  ·  RECHENSCHAFT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0749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C1626"/>
                </a:solidFill>
                <a:latin typeface="Manrope"/>
              </a:rPr>
              <a:t>Der Richter und die Black 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532120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Der EU AI Act fordert für Hochrisiko-KI vollständige Rückverfolgbarkeit (Art. 12, 13). Eine deutsche Verwaltung mit proprietären US-Modellen kann gegenüber einem Verwaltungsgericht nicht im Detail erklären, wie eine Entscheidung zustande kam.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07 ·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 spc="50">
                <a:solidFill>
                  <a:srgbClr val="3A90AA"/>
                </a:solidFill>
                <a:latin typeface="Cousine"/>
              </a:rPr>
              <a:t>AKT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6400" b="1" i="0">
                <a:solidFill>
                  <a:srgbClr val="0C1626"/>
                </a:solidFill>
                <a:latin typeface="Manrope"/>
              </a:rPr>
              <a:t>Die Landkarte.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2704" y="4297680"/>
            <a:ext cx="914400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0" i="1">
                <a:solidFill>
                  <a:srgbClr val="1F2937"/>
                </a:solidFill>
                <a:latin typeface="Manrope"/>
              </a:rPr>
              <a:t>Souveränität, Compliance-Welle, Säulen, das europäische Anbieter-Ökosystem.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08 ·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3A90AA"/>
                </a:solidFill>
                <a:latin typeface="Cousine"/>
              </a:rPr>
              <a:t>AKT II — DIE LANDKARTE  ·  SZENE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C1626"/>
                </a:solidFill>
                <a:latin typeface="Manrope"/>
              </a:rPr>
              <a:t>Souveränität ist nicht Autarkie. Souveränität ist Agency.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1">
                <a:solidFill>
                  <a:srgbClr val="1F2937"/>
                </a:solidFill>
                <a:latin typeface="Manrope"/>
              </a:rPr>
              <a:t>Die häufigste Fehlannahme: „Souverän sein heißt, alles selbst zu machen." Souveränität in einer hypervernetzten Welt heißt etwas anderes — die Freiheit, sich auf andere zu verlassen, ohne die eigene Handlungsfähigkeit aufzugeben. Agency in drei Dimensionen: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7" y="3840480"/>
            <a:ext cx="3474720" cy="22860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447" y="39319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 spc="20">
                <a:solidFill>
                  <a:srgbClr val="3A90AA"/>
                </a:solidFill>
                <a:latin typeface="Cousin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" y="42519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C1626"/>
                </a:solidFill>
                <a:latin typeface="Manrope"/>
              </a:rPr>
              <a:t>Wahl der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" y="4709160"/>
            <a:ext cx="34747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1F2937"/>
                </a:solidFill>
                <a:latin typeface="Manrope"/>
              </a:rPr>
              <a:t>Anbieter werden nach eigenen Kriterien gewählt: Rechtssicherheit, Kosten, Leistung, Werte. Nicht durch Pfadabhängigkeit oder technische Hürden vorgegeben.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8487" y="3840480"/>
            <a:ext cx="3474720" cy="22860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8487" y="39319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 spc="20">
                <a:solidFill>
                  <a:srgbClr val="3A90AA"/>
                </a:solidFill>
                <a:latin typeface="Cousin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8487" y="42519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C1626"/>
                </a:solidFill>
                <a:latin typeface="Manrope"/>
              </a:rPr>
              <a:t>Kontrolle der Regeln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8487" y="4709160"/>
            <a:ext cx="34747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1F2937"/>
                </a:solidFill>
                <a:latin typeface="Manrope"/>
              </a:rPr>
              <a:t>Die Systeme arbeiten nach den eigenen Standards, Werten und regulatorischen Anforderungen — nicht nach den AGB des Anbieters.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7527" y="3840480"/>
            <a:ext cx="3474720" cy="22860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7527" y="39319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 spc="20">
                <a:solidFill>
                  <a:srgbClr val="3A90AA"/>
                </a:solidFill>
                <a:latin typeface="Cousin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7527" y="42519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C1626"/>
                </a:solidFill>
                <a:latin typeface="Manrope"/>
              </a:rPr>
              <a:t>Fähigkeit zum Wechsel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7527" y="4709160"/>
            <a:ext cx="34747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1F2937"/>
                </a:solidFill>
                <a:latin typeface="Manrope"/>
              </a:rPr>
              <a:t>Wenn ein Anbieter die Preise verdreifacht, die Bedingungen ändert oder einstellt: Migration ist möglich, ohne das digitale Rückgrat zu zertrümmern.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09 ·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3A90AA"/>
                </a:solidFill>
                <a:latin typeface="Cousine"/>
              </a:rPr>
              <a:t>AKT II — DIE LANDKARTE  ·  SZENE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C1626"/>
                </a:solidFill>
                <a:latin typeface="Manrope"/>
              </a:rPr>
              <a:t>Die regulatorische Welle 2025–2028.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0881360" cy="10972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1F2937"/>
                </a:solidFill>
                <a:latin typeface="Manrope"/>
              </a:rPr>
              <a:t>Was viele als Compliance-Last empfinden, ist in Wahrheit ein strategischer Hebel: Die europäische Regulatorik macht Souveränität zum Wettbewerbsvorteil — wenn man sie als Designprinzip nutzt, nicht als Hindernis.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sz="1100" b="0" i="0">
                <a:solidFill>
                  <a:srgbClr val="1F2937"/>
                </a:solidFill>
                <a:latin typeface="Manrope"/>
              </a:rPr>
              <a:t>▸  DSGVO Art. 48 (seit 2018) · 20 Mio. EUR / 4 %</a:t>
            </a:r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sz="1000" b="0" i="0">
                <a:solidFill>
                  <a:srgbClr val="4B5563"/>
                </a:solidFill>
                <a:latin typeface="Manrope"/>
              </a:rPr>
              <a:t>Datenübermittlung an Drittstaatsbehörden nur über Rechtshilfeabkommen — CLOUD Act erfüllt dies nicht.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100" b="0" i="0">
                <a:solidFill>
                  <a:srgbClr val="1F2937"/>
                </a:solidFill>
                <a:latin typeface="Manrope"/>
              </a:rPr>
              <a:t>▸  DORA (Jan 2025) · Persönliche Haftung</a:t>
            </a:r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sz="1000" b="0" i="0">
                <a:solidFill>
                  <a:srgbClr val="4B5563"/>
                </a:solidFill>
                <a:latin typeface="Manrope"/>
              </a:rPr>
              <a:t>Finanzunternehmen müssen Konzentrationsrisiko und Exit-Strategien für ICT-Drittanbieter dokumentieren.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100" b="0" i="0">
                <a:solidFill>
                  <a:srgbClr val="1F2937"/>
                </a:solidFill>
                <a:latin typeface="Manrope"/>
              </a:rPr>
              <a:t>▸  EU Data Act, Kap. VII (Sep 2025) · Diverse</a:t>
            </a:r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sz="1000" b="0" i="0">
                <a:solidFill>
                  <a:srgbClr val="4B5563"/>
                </a:solidFill>
                <a:latin typeface="Manrope"/>
              </a:rPr>
              <a:t>EU-Cloud-Anbieter müssen Drittstaaten-Zugriff aktiv anfechten und prüfen.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100" b="0" i="0">
                <a:solidFill>
                  <a:srgbClr val="1F2937"/>
                </a:solidFill>
                <a:latin typeface="Manrope"/>
              </a:rPr>
              <a:t>▸  NIS2 (D · NIS2UmsuCG, Dez 2025) · 10 Mio. EUR / 2 %</a:t>
            </a:r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sz="1000" b="0" i="0">
                <a:solidFill>
                  <a:srgbClr val="4B5563"/>
                </a:solidFill>
                <a:latin typeface="Manrope"/>
              </a:rPr>
              <a:t>~30.000 Unternehmen mit Pflichten zu Risikomanagement, Meldepflichten, Geschäftsführerhaftung.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100" b="0" i="0">
                <a:solidFill>
                  <a:srgbClr val="1F2937"/>
                </a:solidFill>
                <a:latin typeface="Manrope"/>
              </a:rPr>
              <a:t>▸  EU AI Act · GPAI (Aug 2025) · 35 Mio. EUR / 7 %</a:t>
            </a:r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sz="1000" b="0" i="0">
                <a:solidFill>
                  <a:srgbClr val="4B5563"/>
                </a:solidFill>
                <a:latin typeface="Manrope"/>
              </a:rPr>
              <a:t>General-Purpose-AI-Modelle: Transparenzpflichten in Kraft.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100" b="0" i="0">
                <a:solidFill>
                  <a:srgbClr val="1F2937"/>
                </a:solidFill>
                <a:latin typeface="Manrope"/>
              </a:rPr>
              <a:t>▸  EU AI Act · Hochrisiko (Dez 2027, durch Digital Omnibus verschoben) · 35 Mio. EUR / 7 %</a:t>
            </a:r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sz="1000" b="0" i="0">
                <a:solidFill>
                  <a:srgbClr val="4B5563"/>
                </a:solidFill>
                <a:latin typeface="Manrope"/>
              </a:rPr>
              <a:t>Vollständige Konformitätspflichten (Anhang III) — durch Digital Omnibus vom 7. Mai 2026 von Aug 2026 verschoben.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10 ·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3A90AA"/>
                </a:solidFill>
                <a:latin typeface="Cousine"/>
              </a:rPr>
              <a:t>AKT II — DIE LANDKARTE  ·  SZENE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C1626"/>
                </a:solidFill>
                <a:latin typeface="Manrope"/>
              </a:rPr>
              <a:t>Intelligence Taker oder Intelligence Maker?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1F2937"/>
                </a:solidFill>
                <a:latin typeface="Manrope"/>
              </a:rPr>
              <a:t>Hier liegt die strategische Gabelung. Unternehmen müssen sich entscheiden, welche Rolle sie im KI-Zeitalter einnehmen wollen.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10881360" cy="10972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457200" cy="27432"/>
          </a:xfrm>
          <a:prstGeom prst="rect">
            <a:avLst/>
          </a:prstGeom>
          <a:solidFill>
            <a:srgbClr val="C4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5">
                <a:solidFill>
                  <a:srgbClr val="C45E3A"/>
                </a:solidFill>
                <a:latin typeface="Cousine"/>
              </a:rPr>
              <a:t>PFAD A  ·  MIETEN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C1626"/>
                </a:solidFill>
                <a:latin typeface="Manrope"/>
              </a:rPr>
              <a:t>Intelligence Taker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521208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1F2937"/>
                </a:solidFill>
                <a:latin typeface="Manrope"/>
              </a:rPr>
              <a:t>▸  Konsumiert KI als Standardprodukt über API — schnell, bequem, niedrige Einstiegshürde.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b="0" i="0">
                <a:solidFill>
                  <a:srgbClr val="1F2937"/>
                </a:solidFill>
                <a:latin typeface="Manrope"/>
              </a:rPr>
              <a:t>▸  Die zugrunde liegende Intelligenz bleibt austauschbar. Kein nachhaltiges Differenzierungsmerkmal.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b="0" i="0">
                <a:solidFill>
                  <a:srgbClr val="1F2937"/>
                </a:solidFill>
                <a:latin typeface="Manrope"/>
              </a:rPr>
              <a:t>▸  Eigene Prompts und Daten fließen oft (legitimiert durch AGB) ins Training der nächsten Modell-Generation.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b="0" i="0">
                <a:solidFill>
                  <a:srgbClr val="1F2937"/>
                </a:solidFill>
                <a:latin typeface="Manrope"/>
              </a:rPr>
              <a:t>▸  Die verbesserte Intelligenz kann der Anbieter morgen direkt an den Wettbewerber verkaufen.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b="0" i="0">
                <a:solidFill>
                  <a:srgbClr val="1F2937"/>
                </a:solidFill>
                <a:latin typeface="Manrope"/>
              </a:rPr>
              <a:t>▸  Preis- und Roadmap-Hoheit liegt vollständig beim Anbieter.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788920"/>
            <a:ext cx="457200" cy="27432"/>
          </a:xfrm>
          <a:prstGeom prst="rect">
            <a:avLst/>
          </a:prstGeom>
          <a:solidFill>
            <a:srgbClr val="7FA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8803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5">
                <a:solidFill>
                  <a:srgbClr val="7FA873"/>
                </a:solidFill>
                <a:latin typeface="Cousine"/>
              </a:rPr>
              <a:t>PFAD B  ·  BESITZEN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C1626"/>
                </a:solidFill>
                <a:latin typeface="Manrope"/>
              </a:rPr>
              <a:t>Intelligence Maker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49040"/>
            <a:ext cx="521208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1F2937"/>
                </a:solidFill>
                <a:latin typeface="Manrope"/>
              </a:rPr>
              <a:t>▸  Nutzt offene Modelle (Mistral, Llama, Falcon) auf eigener oder zertifizierter EU-Infrastruktur.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b="0" i="0">
                <a:solidFill>
                  <a:srgbClr val="1F2937"/>
                </a:solidFill>
                <a:latin typeface="Manrope"/>
              </a:rPr>
              <a:t>▸  Veredelt sie durch Fine-Tuning mit eigenen, proprietären Daten.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b="0" i="0">
                <a:solidFill>
                  <a:srgbClr val="1F2937"/>
                </a:solidFill>
                <a:latin typeface="Manrope"/>
              </a:rPr>
              <a:t>▸  Das Ergebnis ist exklusives IP — ein geschütztes Asset, das nicht in fremde Hände gelangt.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b="0" i="0">
                <a:solidFill>
                  <a:srgbClr val="1F2937"/>
                </a:solidFill>
                <a:latin typeface="Manrope"/>
              </a:rPr>
              <a:t>▸  Modellgewichte, Trainingslogik, Audit-Trail: alles im eigenen Einflussbereich.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b="0" i="0">
                <a:solidFill>
                  <a:srgbClr val="1F2937"/>
                </a:solidFill>
                <a:latin typeface="Manrope"/>
              </a:rPr>
              <a:t>▸  Wirtschaftlich überlegen ab dem Skalierungs-Break-Even (typisch 12–18 Monate).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11 ·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3A90AA"/>
                </a:solidFill>
                <a:latin typeface="Cousine"/>
              </a:rPr>
              <a:t>AKT II — DIE LANDKARTE  ·  SZENE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C1626"/>
                </a:solidFill>
                <a:latin typeface="Manrope"/>
              </a:rPr>
              <a:t>Die Sovereign Operating Matrix.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4B5563"/>
                </a:solidFill>
                <a:latin typeface="Manrope"/>
              </a:rPr>
              <a:t>Souverän zu sein heißt nicht zwangsläufig, ein Rechenzentrum zu kaufen. Vier Modelle, je nach Risikoprofil und Reifestufe.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2606040" cy="22860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25">
                <a:solidFill>
                  <a:srgbClr val="3A90AA"/>
                </a:solidFill>
                <a:latin typeface="Cousine"/>
              </a:rPr>
              <a:t>MODELL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C1626"/>
                </a:solidFill>
                <a:latin typeface="Manrope"/>
              </a:rPr>
              <a:t>Souveränes MaaS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F2937"/>
                </a:solidFill>
                <a:latin typeface="Manrope"/>
              </a:rPr>
              <a:t>Inferenz-Token bei EU-Anbieter buchen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2606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Mistral via SAP AI Core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Aleph Alpha PhariaAI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100 % EU-Datenhaltung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Pay-per-use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 spc="20">
                <a:solidFill>
                  <a:srgbClr val="2A6C7E"/>
                </a:solidFill>
                <a:latin typeface="Cousine"/>
              </a:rPr>
              <a:t>FÜR  ·  KMU, Piloten, Inferenz-Workloads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606040"/>
            <a:ext cx="2606040" cy="22860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697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25">
                <a:solidFill>
                  <a:srgbClr val="3A90AA"/>
                </a:solidFill>
                <a:latin typeface="Cousine"/>
              </a:rPr>
              <a:t>MODELL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9718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C1626"/>
                </a:solidFill>
                <a:latin typeface="Manrope"/>
              </a:rPr>
              <a:t>Souveränes IaaS / Neoclouds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5661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F2937"/>
                </a:solidFill>
                <a:latin typeface="Manrope"/>
              </a:rPr>
              <a:t>GPU-Stunden bei spezialisierten EU-Anbietern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023360"/>
            <a:ext cx="2606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IONOS, OVHcloud, plusserver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Nebius Europe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Eigenes Hosting von Open-Weight-Modellen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BSI-C5- oder Gaia-X-zertifiziert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7607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 spc="20">
                <a:solidFill>
                  <a:srgbClr val="2A6C7E"/>
                </a:solidFill>
                <a:latin typeface="Cousine"/>
              </a:rPr>
              <a:t>FÜR  ·  Mittelstand mit ML-Kompetenz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606040"/>
            <a:ext cx="2606040" cy="22860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697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25">
                <a:solidFill>
                  <a:srgbClr val="3A90AA"/>
                </a:solidFill>
                <a:latin typeface="Cousine"/>
              </a:rPr>
              <a:t>MODELL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9718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C1626"/>
                </a:solidFill>
                <a:latin typeface="Manrope"/>
              </a:rPr>
              <a:t>Managed Sovereignty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5661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F2937"/>
                </a:solidFill>
                <a:latin typeface="Manrope"/>
              </a:rPr>
              <a:t>Dedizierte Server in zertifizierten Rechenzentren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23360"/>
            <a:ext cx="2606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T-Systems, STACKIT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OVHcloud Bare Metal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Keine „Noisy Neighbors"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Volle physische Kontrolle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7607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 spc="20">
                <a:solidFill>
                  <a:srgbClr val="2A6C7E"/>
                </a:solidFill>
                <a:latin typeface="Cousine"/>
              </a:rPr>
              <a:t>FÜR  ·  Regulierte Branchen, sensible Workloads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2606040"/>
            <a:ext cx="2606040" cy="22860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2697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25">
                <a:solidFill>
                  <a:srgbClr val="3A90AA"/>
                </a:solidFill>
                <a:latin typeface="Cousine"/>
              </a:rPr>
              <a:t>MODELL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9718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C1626"/>
                </a:solidFill>
                <a:latin typeface="Manrope"/>
              </a:rPr>
              <a:t>Colocation / AI Factory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5661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F2937"/>
                </a:solidFill>
                <a:latin typeface="Manrope"/>
              </a:rPr>
              <a:t>Eigene Hardware im spezialisierten Rechenzentrum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023360"/>
            <a:ext cx="2606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Eigene NVIDIA-Cluster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Direct Liquid Cooling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InfiniBand-Fabric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1F2937"/>
                </a:solidFill>
                <a:latin typeface="Manrope"/>
              </a:rPr>
              <a:t>·  Eigene Foundation-Modelle möglich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57607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 spc="20">
                <a:solidFill>
                  <a:srgbClr val="2A6C7E"/>
                </a:solidFill>
                <a:latin typeface="Cousine"/>
              </a:rPr>
              <a:t>FÜR  ·  Konzerne, hochsensible Anwendungen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12 ·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3A90AA"/>
                </a:solidFill>
                <a:latin typeface="Cousine"/>
              </a:rPr>
              <a:t>AKT II — DIE LANDKARTE  ·  SZENE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C1626"/>
                </a:solidFill>
                <a:latin typeface="Manrope"/>
              </a:rPr>
              <a:t>Die 4 Säulen und das europäische Ökosystem.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0881360" cy="10972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1F2937"/>
                </a:solidFill>
                <a:latin typeface="Manrope"/>
              </a:rPr>
              <a:t>Souveränität ist multiplikativ — fehlt eine Säule, sinkt der Gesamtgrad gegen Null. Die Behauptung, Europa habe keine relevanten KI-Anbieter, ist 2026 nicht mehr haltbar.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sz="1000" b="1" i="0">
                <a:solidFill>
                  <a:srgbClr val="3A90AA"/>
                </a:solidFill>
                <a:latin typeface="Cousine"/>
              </a:rPr>
              <a:t>MODELLE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050" b="0" i="0">
                <a:solidFill>
                  <a:srgbClr val="1F2937"/>
                </a:solidFill>
                <a:latin typeface="Manrope"/>
              </a:rPr>
              <a:t>Mistral AI (Paris) · Frontier-Modelle, Mistral Forge On-Premises, SAP-Partnerschaft seit Nov. 2025, Mistral Compute (Schweden, 1,2 Mrd. EUR). Aleph Alpha (Heidelberg) · Spezialist für erklärbare KI in regulierten Branchen. Black Forest Labs (D) · Bildgenerierung. LightOn (Paris) · energieeffizientes Training.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000" b="1" i="0">
                <a:solidFill>
                  <a:srgbClr val="3A90AA"/>
                </a:solidFill>
                <a:latin typeface="Cousine"/>
              </a:rPr>
              <a:t>INFRASTRUKTUR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050" b="0" i="0">
                <a:solidFill>
                  <a:srgbClr val="1F2937"/>
                </a:solidFill>
                <a:latin typeface="Manrope"/>
              </a:rPr>
              <a:t>STACKIT (Schwarz Digits) · BSI-C5-testiert, eigener AI Cloud Stack. IONOS, T-Systems, OVHcloud, plusserver · DSGVO-konform, Gaia-X-Gründungsmitglieder. Delos Cloud · Spezialisiert auf öffentliche Verwaltung.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000" b="1" i="0">
                <a:solidFill>
                  <a:srgbClr val="3A90AA"/>
                </a:solidFill>
                <a:latin typeface="Cousine"/>
              </a:rPr>
              <a:t>ÖKOSYSTEM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050" b="0" i="0">
                <a:solidFill>
                  <a:srgbClr val="1F2937"/>
                </a:solidFill>
                <a:latin typeface="Manrope"/>
              </a:rPr>
              <a:t>Gaia-X Trust Framework 3.0 „Danube" seit November 2025 — über 180 Data Spaces in Umsetzung. EuroStack-Initiative, IPCEI-CIS, EU Data Act fördern interoperable Cloud-Standards.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13 ·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 spc="50">
                <a:solidFill>
                  <a:srgbClr val="3A90AA"/>
                </a:solidFill>
                <a:latin typeface="Cousine"/>
              </a:rPr>
              <a:t>AKT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6400" b="1" i="0">
                <a:solidFill>
                  <a:srgbClr val="0C1626"/>
                </a:solidFill>
                <a:latin typeface="Manrope"/>
              </a:rPr>
              <a:t>Der Spielzug.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2704" y="4297680"/>
            <a:ext cx="914400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0" i="1">
                <a:solidFill>
                  <a:srgbClr val="1F2937"/>
                </a:solidFill>
                <a:latin typeface="Manrope"/>
              </a:rPr>
              <a:t>Das CSD-Framework, die 90-Tage-Roadmap und der 12-Fragen-Souveränitäts-Check.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14 ·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3A90AA"/>
                </a:solidFill>
                <a:latin typeface="Cousine"/>
              </a:rPr>
              <a:t>AKT III — DER SPIELZUG  ·  SZENE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C1626"/>
                </a:solidFill>
                <a:latin typeface="Manrope"/>
              </a:rPr>
              <a:t>Das CSD-Framework: Control · Steer · Depend.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4B5563"/>
                </a:solidFill>
                <a:latin typeface="Manrope"/>
              </a:rPr>
              <a:t>Sie müssen nicht alles selbst bauen. Sie müssen nur die richtigen Dinge selbst kontrollieren. Das CSD-Framework sortiert KI-Workloads in drei Kategorien — und macht damit die einzige strategische Entscheidung explizit, die heute zählt.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97480"/>
            <a:ext cx="3520440" cy="32004"/>
          </a:xfrm>
          <a:prstGeom prst="rect">
            <a:avLst/>
          </a:prstGeom>
          <a:solidFill>
            <a:srgbClr val="C4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C45E3A"/>
                </a:solidFill>
                <a:latin typeface="Manrope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71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C1626"/>
                </a:solidFill>
                <a:latin typeface="Manrope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55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8">
                <a:solidFill>
                  <a:srgbClr val="4B5563"/>
                </a:solidFill>
                <a:latin typeface="Cousine"/>
              </a:rPr>
              <a:t>≈ 10–30 % der Workloads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A6C7E"/>
                </a:solidFill>
                <a:latin typeface="Manrope"/>
              </a:rPr>
              <a:t>Missionskritische Intelligenz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3520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">
                <a:solidFill>
                  <a:srgbClr val="3A90AA"/>
                </a:solidFill>
                <a:latin typeface="Cousine"/>
              </a:rPr>
              <a:t>BEISPIELE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Wirkstoffforschung, autonome Produktionssteuerung, Kern-Bankensysteme, Patent-Analysen.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3520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">
                <a:solidFill>
                  <a:srgbClr val="3A90AA"/>
                </a:solidFill>
                <a:latin typeface="Cousine"/>
              </a:rPr>
              <a:t>KONSEQUENZ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120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Souveräne Infrastruktur (Managed Sovereignty / Bare Metal in EU). Open-Weight-Modelle. BYOK. Volle Auditierbarkeit.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697480"/>
            <a:ext cx="3520440" cy="32004"/>
          </a:xfrm>
          <a:prstGeom prst="rect">
            <a:avLst/>
          </a:prstGeom>
          <a:solidFill>
            <a:srgbClr val="C4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83464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C4923A"/>
                </a:solidFill>
                <a:latin typeface="Manrope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971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C1626"/>
                </a:solidFill>
                <a:latin typeface="Manrope"/>
              </a:rPr>
              <a:t>Steer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55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8">
                <a:solidFill>
                  <a:srgbClr val="4B5563"/>
                </a:solidFill>
                <a:latin typeface="Cousine"/>
              </a:rPr>
              <a:t>≈ 30–60 % der Workloads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7947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A6C7E"/>
                </a:solidFill>
                <a:latin typeface="Manrope"/>
              </a:rPr>
              <a:t>Wichtige Prozesse mit Gestaltungsanspruch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251960"/>
            <a:ext cx="3520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">
                <a:solidFill>
                  <a:srgbClr val="3A90AA"/>
                </a:solidFill>
                <a:latin typeface="Cousine"/>
              </a:rPr>
              <a:t>BEISPIELE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48056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HR-Systeme, Support-Bots, CRM-Analysen, Logistikoptimierung, Marketing-Automation.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983480"/>
            <a:ext cx="3520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">
                <a:solidFill>
                  <a:srgbClr val="3A90AA"/>
                </a:solidFill>
                <a:latin typeface="Cousine"/>
              </a:rPr>
              <a:t>KONSEQUENZ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2120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Souveränes MaaS bei zertifizierten Providern. Compliance-Wrappers. Klare Datenverträge.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697480"/>
            <a:ext cx="3520440" cy="32004"/>
          </a:xfrm>
          <a:prstGeom prst="rect">
            <a:avLst/>
          </a:prstGeom>
          <a:solidFill>
            <a:srgbClr val="7FA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83464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7FA873"/>
                </a:solidFill>
                <a:latin typeface="Manrope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971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C1626"/>
                </a:solidFill>
                <a:latin typeface="Manrope"/>
              </a:rPr>
              <a:t>Depend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3355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8">
                <a:solidFill>
                  <a:srgbClr val="4B5563"/>
                </a:solidFill>
                <a:latin typeface="Cousine"/>
              </a:rPr>
              <a:t>≈ 10–60 % der Workloads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7947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A6C7E"/>
                </a:solidFill>
                <a:latin typeface="Manrope"/>
              </a:rPr>
              <a:t>Bewusste Abhängigkeit für unkritische Dienste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251960"/>
            <a:ext cx="3520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">
                <a:solidFill>
                  <a:srgbClr val="3A90AA"/>
                </a:solidFill>
                <a:latin typeface="Cousine"/>
              </a:rPr>
              <a:t>BEISPIELE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48056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Coding-Assistenten, Marketing-Texte, Brainstorming, Übersetzungen, generische Bildgenerierung.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983480"/>
            <a:ext cx="3520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">
                <a:solidFill>
                  <a:srgbClr val="3A90AA"/>
                </a:solidFill>
                <a:latin typeface="Cousine"/>
              </a:rPr>
              <a:t>KONSEQUENZ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2120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Standard-APIs (OpenAI, Anthropic, Google). Datenklassifizierung verhindert sensiblen Daten-Abfluss.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 spc="20">
                <a:solidFill>
                  <a:srgbClr val="3A90AA"/>
                </a:solidFill>
                <a:latin typeface="Cousine"/>
              </a:rPr>
              <a:t>Die einzige strategische Entscheidung, die heute zählt: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0C1626"/>
                </a:solidFill>
                <a:latin typeface="Manrope"/>
              </a:rPr>
              <a:t>Welches Drittel Ihrer KI gehört in welche Kategorie?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15 ·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3A90AA"/>
                </a:solidFill>
                <a:latin typeface="Cousine"/>
              </a:rPr>
              <a:t>AKT III — DER SPIELZUG  ·  SZENE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C1626"/>
                </a:solidFill>
                <a:latin typeface="Manrope"/>
              </a:rPr>
              <a:t>Die 90-Tage-Roadmap.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4B5563"/>
                </a:solidFill>
                <a:latin typeface="Manrope"/>
              </a:rPr>
              <a:t>Souveränität ist kein Big-Bang-Projekt. Sieben Schritte in drei Phasen — pragmatisch, sequenziell, ohne Risiko-Sprünge.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3611880" cy="27432"/>
          </a:xfrm>
          <a:prstGeom prst="rect">
            <a:avLst/>
          </a:prstGeom>
          <a:solidFill>
            <a:srgbClr val="C4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25">
                <a:solidFill>
                  <a:srgbClr val="C45E3A"/>
                </a:solidFill>
                <a:latin typeface="Cousine"/>
              </a:rPr>
              <a:t>PHASE 1 · TAG 1–30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1626"/>
                </a:solidFill>
                <a:latin typeface="Manrope"/>
              </a:rPr>
              <a:t>Inventur &amp; Klassifizierung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C1626"/>
                </a:solidFill>
                <a:latin typeface="Manrope"/>
              </a:rPr>
              <a:t>1.  KI-Inventur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Vollständige Erfassung aller KI-Anwendungen — inklusive Schatten-KI ohne IT-Abstimmung.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C1626"/>
                </a:solidFill>
                <a:latin typeface="Manrope"/>
              </a:rPr>
              <a:t>2.  Risiko-Klassifizierung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Nach EU AI Act einordnen: verboten / hoch / begrenzt / minimal. Auch Art. 6 Abs. 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C1626"/>
                </a:solidFill>
                <a:latin typeface="Manrope"/>
              </a:rPr>
              <a:t>3.  CSD-Einordnung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Jedes System in Control / Steer / Depend einordnen — wird zum Steuerungs-Cockpit.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606040"/>
            <a:ext cx="3611880" cy="27432"/>
          </a:xfrm>
          <a:prstGeom prst="rect">
            <a:avLst/>
          </a:prstGeom>
          <a:solidFill>
            <a:srgbClr val="C4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69748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25">
                <a:solidFill>
                  <a:srgbClr val="C4923A"/>
                </a:solidFill>
                <a:latin typeface="Cousine"/>
              </a:rPr>
              <a:t>PHASE 2 · TAG 30–60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97180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1626"/>
                </a:solidFill>
                <a:latin typeface="Manrope"/>
              </a:rPr>
              <a:t>Risikoanalyse &amp; Strategie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5661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C1626"/>
                </a:solidFill>
                <a:latin typeface="Manrope"/>
              </a:rPr>
              <a:t>4.  DORA-Konzentrationsrisiko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84048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Welche Anbieter halten kritische Funktionen? Wo wäre Wechsel in 6 Monaten unmöglich?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66344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C1626"/>
                </a:solidFill>
                <a:latin typeface="Manrope"/>
              </a:rPr>
              <a:t>5.  Datenklassifizierung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93776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Drei Stufen: öffentlich / geschäftlich vertraulich / regulatorisch kritisch. Nur Stufe 3 zwingend souverän.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7607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C1626"/>
                </a:solidFill>
                <a:latin typeface="Manrope"/>
              </a:rPr>
              <a:t>6.  Exit-Strategie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603504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Pro Control-Anbieter ein konkreter, dokumentierter Wechsel-Plan.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2606040"/>
            <a:ext cx="3611880" cy="27432"/>
          </a:xfrm>
          <a:prstGeom prst="rect">
            <a:avLst/>
          </a:prstGeom>
          <a:solidFill>
            <a:srgbClr val="7FA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69748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25">
                <a:solidFill>
                  <a:srgbClr val="7FA873"/>
                </a:solidFill>
                <a:latin typeface="Cousine"/>
              </a:rPr>
              <a:t>PHASE 3 · TAG 60–90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97180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1626"/>
                </a:solidFill>
                <a:latin typeface="Manrope"/>
              </a:rPr>
              <a:t>Erste Migration &amp;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5661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C1626"/>
                </a:solidFill>
                <a:latin typeface="Manrope"/>
              </a:rPr>
              <a:t>7.  Pilot-Migration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84048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Eine Control-Workload auf Open-Weight-Modell in souveräner Umgebung (Mistral auf STACKIT / IONOS). Governance + Schulung parallel.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16 ·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3A90AA"/>
                </a:solidFill>
                <a:latin typeface="Cousine"/>
              </a:rPr>
              <a:t>AKT III — DER SPIELZUG  ·  SZENE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C1626"/>
                </a:solidFill>
                <a:latin typeface="Manrope"/>
              </a:rPr>
              <a:t>Der 12-Fragen-Souveränitäts-Check.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4B5563"/>
                </a:solidFill>
                <a:latin typeface="Manrope"/>
              </a:rPr>
              <a:t>Ein ehrlicher Spiegel für die Geschäftsführung. Beantworten Sie jede Frage mit Ja oder Nein. „Ich weiß es nicht" zählt als Nein.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25">
                <a:solidFill>
                  <a:srgbClr val="3A90AA"/>
                </a:solidFill>
                <a:latin typeface="Cousine"/>
              </a:rPr>
              <a:t>KATEGORIE I  ·  Daten-Kontrolle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52928"/>
            <a:ext cx="457200" cy="16459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53492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☐  Wissen Sie exakt, in welchen Jurisdiktionen Ihre KI-Trainingsdaten gespeichert und verarbeitet werden?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0" i="0">
                <a:solidFill>
                  <a:srgbClr val="1F2937"/>
                </a:solidFill>
                <a:latin typeface="Manrope"/>
              </a:rPr>
              <a:t>☐  Können Sie garantieren, dass kritische Daten niemals Grenzen verlassen, die Sie nicht freigegeben haben?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0" i="0">
                <a:solidFill>
                  <a:srgbClr val="1F2937"/>
                </a:solidFill>
                <a:latin typeface="Manrope"/>
              </a:rPr>
              <a:t>☐  Halten Sie die Verschlüsselungs-Keys (BYOK) selbst — nicht der Provider?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56032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25">
                <a:solidFill>
                  <a:srgbClr val="3A90AA"/>
                </a:solidFill>
                <a:latin typeface="Cousine"/>
              </a:rPr>
              <a:t>KATEGORIE II  ·  Modell-Kontrolle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852928"/>
            <a:ext cx="457200" cy="16459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971800"/>
            <a:ext cx="53492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☐  Besitzen Sie die Eigentumsrechte an den KI-Modellen — oder sind Sie nur Lizenznehmer einer proprietären API?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0" i="0">
                <a:solidFill>
                  <a:srgbClr val="1F2937"/>
                </a:solidFill>
                <a:latin typeface="Manrope"/>
              </a:rPr>
              <a:t>☐  Können Sie Ihre Modelle unabhängig modifizieren, verbessern oder auditieren (Open Weights)?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0" i="0">
                <a:solidFill>
                  <a:srgbClr val="1F2937"/>
                </a:solidFill>
                <a:latin typeface="Manrope"/>
              </a:rPr>
              <a:t>☐  Funktioniert Ihre KI weiter, wenn die Geschäftsbeziehung zum Vendor morgen endet?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25">
                <a:solidFill>
                  <a:srgbClr val="3A90AA"/>
                </a:solidFill>
                <a:latin typeface="Cousine"/>
              </a:rPr>
              <a:t>KATEGORIE III  ·  Infrastruktur-Kontrolle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864608"/>
            <a:ext cx="457200" cy="16459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53492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☐  Könnten Ihre KI-Systeme weiterlaufen, wenn die Verbindung zu einem ausländischen Provider unterbrochen wäre?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0" i="0">
                <a:solidFill>
                  <a:srgbClr val="1F2937"/>
                </a:solidFill>
                <a:latin typeface="Manrope"/>
              </a:rPr>
              <a:t>☐  Wissen Sie genau, wer administrativen Zugriff auf die Infrastruktur hat?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0" i="0">
                <a:solidFill>
                  <a:srgbClr val="1F2937"/>
                </a:solidFill>
                <a:latin typeface="Manrope"/>
              </a:rPr>
              <a:t>☐  Sind Ihre KI-Systeme frei von Abhängigkeiten, die unter Exportkontrolle oder fremder Jurisdiktion stehen?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57200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25">
                <a:solidFill>
                  <a:srgbClr val="3A90AA"/>
                </a:solidFill>
                <a:latin typeface="Cousine"/>
              </a:rPr>
              <a:t>KATEGORIE IV  ·  Entscheidungs-Kontrolle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864608"/>
            <a:ext cx="457200" cy="16459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983480"/>
            <a:ext cx="53492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F2937"/>
                </a:solidFill>
                <a:latin typeface="Manrope"/>
              </a:rPr>
              <a:t>☐  Können Sie (oder ein unabhängiger Dritter) erklären, wie Ihre KI zu einer bestimmten Entscheidung kam?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0" i="0">
                <a:solidFill>
                  <a:srgbClr val="1F2937"/>
                </a:solidFill>
                <a:latin typeface="Manrope"/>
              </a:rPr>
              <a:t>☐  Haben Sie die technische Möglichkeit, KI-Verhalten an neue Regulatorik anzupassen (z. B. EU AI Act)?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0" i="0">
                <a:solidFill>
                  <a:srgbClr val="1F2937"/>
                </a:solidFill>
                <a:latin typeface="Manrope"/>
              </a:rPr>
              <a:t>☐  Sind Ihre KI-Fähigkeiten immun gegen einseitige Richtlinien-Änderungen eines Drittanbieters?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17 ·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3A90AA"/>
                </a:solidFill>
                <a:latin typeface="Cousine"/>
              </a:rPr>
              <a:t>AUSWERTUNG  ·  12-FRAGEN-CHECK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C1626"/>
                </a:solidFill>
                <a:latin typeface="Manrope"/>
              </a:rPr>
              <a:t>Vier Souveränitäts-Level.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4B5563"/>
                </a:solidFill>
                <a:latin typeface="Manrope"/>
              </a:rPr>
              <a:t>Zählen Sie die Ja-Antworten aus dem 12-Fragen-Check. Das Ergebnis verortet Ihr Unternehmen auf einem von vier Souveränitäts-Levels.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2606040" cy="32004"/>
          </a:xfrm>
          <a:prstGeom prst="rect">
            <a:avLst/>
          </a:prstGeom>
          <a:solidFill>
            <a:srgbClr val="C4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5">
                <a:solidFill>
                  <a:srgbClr val="C45E3A"/>
                </a:solidFill>
                <a:latin typeface="Cousine"/>
              </a:rPr>
              <a:t>0–3  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C1626"/>
                </a:solidFill>
                <a:latin typeface="Manrope"/>
              </a:rPr>
              <a:t>Level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C45E3A"/>
                </a:solidFill>
                <a:latin typeface="Manrope"/>
              </a:rPr>
              <a:t>Volle Abhängigkeit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F2937"/>
                </a:solidFill>
                <a:latin typeface="Manrope"/>
              </a:rPr>
              <a:t>Sie sind reiner Intelligence Taker. Maximales Lock-in- und Compliance-Risiko.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606040"/>
            <a:ext cx="2606040" cy="32004"/>
          </a:xfrm>
          <a:prstGeom prst="rect">
            <a:avLst/>
          </a:prstGeom>
          <a:solidFill>
            <a:srgbClr val="C4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7432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5">
                <a:solidFill>
                  <a:srgbClr val="C4923A"/>
                </a:solidFill>
                <a:latin typeface="Cousine"/>
              </a:rPr>
              <a:t>4–6  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1089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C1626"/>
                </a:solidFill>
                <a:latin typeface="Manrope"/>
              </a:rPr>
              <a:t>Level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6118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C4923A"/>
                </a:solidFill>
                <a:latin typeface="Manrope"/>
              </a:rPr>
              <a:t>Hybride Kontrolle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160520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F2937"/>
                </a:solidFill>
                <a:latin typeface="Manrope"/>
              </a:rPr>
              <a:t>Erste Schritte gemacht — Kern-Intelligenz bleibt aber in fremden Händen.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606040"/>
            <a:ext cx="2606040" cy="32004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7432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5">
                <a:solidFill>
                  <a:srgbClr val="3A90AA"/>
                </a:solidFill>
                <a:latin typeface="Cousine"/>
              </a:rPr>
              <a:t>7–9  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1089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C1626"/>
                </a:solidFill>
                <a:latin typeface="Manrope"/>
              </a:rPr>
              <a:t>Level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118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3A90AA"/>
                </a:solidFill>
                <a:latin typeface="Manrope"/>
              </a:rPr>
              <a:t>Gesteuerte Souveränität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160520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F2937"/>
                </a:solidFill>
                <a:latin typeface="Manrope"/>
              </a:rPr>
              <a:t>Sie nutzen dedizierte Infrastruktur, erfüllen Compliance proaktiv.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2606040"/>
            <a:ext cx="2606040" cy="32004"/>
          </a:xfrm>
          <a:prstGeom prst="rect">
            <a:avLst/>
          </a:prstGeom>
          <a:solidFill>
            <a:srgbClr val="7FA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27432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5">
                <a:solidFill>
                  <a:srgbClr val="7FA873"/>
                </a:solidFill>
                <a:latin typeface="Cousine"/>
              </a:rPr>
              <a:t>10–12  JA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1089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C1626"/>
                </a:solidFill>
                <a:latin typeface="Manrope"/>
              </a:rPr>
              <a:t>Level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6118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7FA873"/>
                </a:solidFill>
                <a:latin typeface="Manrope"/>
              </a:rPr>
              <a:t>Komplette Souveränität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160520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F2937"/>
                </a:solidFill>
                <a:latin typeface="Manrope"/>
              </a:rPr>
              <a:t>Sie sind Intelligence Maker. KI ist strategisches Asset.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18 ·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3A90AA"/>
                </a:solidFill>
                <a:latin typeface="Cousine"/>
              </a:rPr>
              <a:t>AKT III · SCHLUSSBILD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C1626"/>
                </a:solidFill>
                <a:latin typeface="Manrope"/>
              </a:rPr>
              <a:t>Auf eigenem Grund bauen.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30">
                <a:solidFill>
                  <a:srgbClr val="3A90AA"/>
                </a:solidFill>
                <a:latin typeface="Cousine"/>
              </a:rPr>
              <a:t>DREI SÄTZE FÜR DIE NÄCHSTE VORSTANDSSITZUNG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80360"/>
            <a:ext cx="10881360" cy="10972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0C1626"/>
                </a:solidFill>
                <a:latin typeface="Manrope"/>
              </a:rPr>
              <a:t>01  „Wir wissen, welches Drittel unserer KI tatsächlich souverän sein muss — und welches darf bei den Hyperscalern bleiben."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0C1626"/>
                </a:solidFill>
                <a:latin typeface="Manrope"/>
              </a:rPr>
              <a:t>02  „Wir haben für jeden Control-Anbieter eine dokumentierte Exit-Strategie nach DORA-Art."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0C1626"/>
                </a:solidFill>
                <a:latin typeface="Manrope"/>
              </a:rPr>
              <a:t>03  „Wir nutzen die Compliance-Welle 2025–2028 als Designprinzip — nicht als Last."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19 ·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"/>
            <a:ext cx="164592" cy="164592"/>
          </a:xfrm>
          <a:prstGeom prst="rect">
            <a:avLst/>
          </a:prstGeom>
          <a:solidFill>
            <a:srgbClr val="3A9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">
                <a:solidFill>
                  <a:srgbClr val="0C1626"/>
                </a:solidFill>
                <a:latin typeface="Manrope"/>
              </a:rPr>
              <a:t>Souveräne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3A90AA"/>
                </a:solidFill>
                <a:latin typeface="Cousine"/>
              </a:rPr>
              <a:t>ANHANG  ·  ALLE QUELLEN MIT URLS  ·  STAND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C1626"/>
                </a:solidFill>
                <a:latin typeface="Manrope"/>
              </a:rPr>
              <a:t>Quellen.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3949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0C1626"/>
                </a:solidFill>
                <a:latin typeface="Manrope"/>
              </a:rPr>
              <a:t>01  EU AI Act — Hochrisiko-Pflichten und Stichtage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advisori.de · Mai 2026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02  EU AI Act — Übersicht Europäische Kommission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digital-strategy.ec.europa.eu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03  EU AI Act — Digital Omnibus, neue Fristen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ad-hoc-news.de · Mai 2026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04  EU AI Act 2026 — Zwischenstand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TÜV Consulting · April 2026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05  Microsoft France vor dem Senat (Carniaux, unter Eid)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heise.de · Juni 2025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06  Microsoft kann US-Zugriff auf EU-Cloud nicht verhindern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Dr. Datenschutz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07  Souveräne EU-Cloud-Debakel — Senatsanhörung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Born's IT-Blog · Juli 2025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08  EU Data Act vs. CLOUD Act — Souveränitätskonflikt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kiteworks.com · März 2026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09  CLOUD Act und europäischer Datenschutz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kiteworks.com · Februar 2026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10  CLOUD Act-Risiko — Rechtsgutachten Uni Köln (BMI)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novalnet.de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11  Sicherer Datenaustausch trotz CLOUD Act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netfiles.com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12  DSGVO-Boundary nichts wert? Microsoft-Eingeständnis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Datenschutzbeauftragter Hamburg · Aug 2025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13  NIS2 vs. DORA — Unterschiede im Praxis-Guide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activeMind AG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14  NIS2-Umsetzungsgesetz in Deutschland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OpenKRITIS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965960"/>
            <a:ext cx="53949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0C1626"/>
                </a:solidFill>
                <a:latin typeface="Manrope"/>
              </a:rPr>
              <a:t>15  NIS2 — Pflichten, Fristen, Checkliste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SoSafe · 2026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16  NIS-2-Richtlinie — Auswirkungen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vasgard.com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17  NIS2 trifft DORA — Änderungen Finanzunternehmen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PayTechLaw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18  DORA, NIS-2 und KRITIS — Anforderungen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WG-DATA · April 2026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19  Europäische KI-Anbieter und Modelle 2026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Data Unplugged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20  Mistral AI — Europas Antwort, SAP-Partnerschaft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Stefan Pfeiffer Blog · März 2026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21  Aleph Alpha, Mistral, LightOn — Europas neue KI-Ära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iseremo.com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22  Cloud-Souveränität 2026 — Gaia-X, Sovereign Cloud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cloudmagazin · März 2026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23  Digitale Souveränität 2026 — Delos Cloud, Gaia-X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digital-chiefs.de · März 2026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24  pluscloud open — Gaia-X-Gründungsmitglied, BSI-C5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plusserver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25  Cloud Market Share Q3 2025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QuantumRun Consulting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26  Cloud Market Share 2026 — Top Providers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Holori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27  Harvard-Studie — Open Source als digitales Fundament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The Decoder · März 2025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00" b="1" i="0">
                <a:solidFill>
                  <a:srgbClr val="0C1626"/>
                </a:solidFill>
                <a:latin typeface="Manrope"/>
              </a:rPr>
              <a:t>28  Open Source wirtschaftlich 8,8 Billionen USD wert</a:t>
            </a:r>
          </a:p>
          <a:p>
            <a:pPr algn="l">
              <a:lnSpc>
                <a:spcPct val="130000"/>
              </a:lnSpc>
            </a:pPr>
            <a:r>
              <a:rPr sz="750" b="0" i="0" spc="15">
                <a:solidFill>
                  <a:srgbClr val="557B95"/>
                </a:solidFill>
                <a:latin typeface="Cousine"/>
              </a:rPr>
              <a:t>heise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">
                <a:solidFill>
                  <a:srgbClr val="557B95"/>
                </a:solidFill>
                <a:latin typeface="Cousine"/>
              </a:rPr>
              <a:t>PRAXISLEITFADEN · SOUVERÄNE KI · MAI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493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0" spc="12">
                <a:solidFill>
                  <a:srgbClr val="557B95"/>
                </a:solidFill>
                <a:latin typeface="Cousine"/>
              </a:rPr>
              <a:t>20 ·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